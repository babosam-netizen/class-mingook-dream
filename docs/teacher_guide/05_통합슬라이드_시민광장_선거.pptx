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502920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9893808" y="502920"/>
            <a:ext cx="384048" cy="384048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4" name="Shape 2"/>
          <p:cNvSpPr/>
          <p:nvPr/>
        </p:nvSpPr>
        <p:spPr>
          <a:xfrm>
            <a:off x="10460736" y="502920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" name="Shape 3"/>
          <p:cNvSpPr/>
          <p:nvPr/>
        </p:nvSpPr>
        <p:spPr>
          <a:xfrm>
            <a:off x="11027664" y="502920"/>
            <a:ext cx="384048" cy="38404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민국이의 꿈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교실을 ‘작은 대한민국’으로 — 주제통합(국어+사회) 시뮬레이션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68680" y="3794760"/>
            <a:ext cx="51206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023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 안내서  </a:t>
            </a:r>
            <a:pPr indent="0" marL="0">
              <a:buNone/>
            </a:pPr>
            <a:r>
              <a:rPr lang="en-US" sz="22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번째 여정 ‘시민 광장’ · 두 번째 여정 ‘선거’  (1~9차시)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· 기능 설명서 · 인포그래픽 통합본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한눈에 — 네 번의 여정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여정은 첫 여정에서 정한 ‘최우선 과제’ 하나를 중심으로 이어집니다.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42032" cy="3383280"/>
          </a:xfrm>
          <a:prstGeom prst="rect">
            <a:avLst/>
          </a:prstGeom>
          <a:solidFill>
            <a:srgbClr val="FFFBEB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20240"/>
            <a:ext cx="2542032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시민 광장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1~5차시 · 의제 설정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21762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발굴 → 시민단체 → 최우선 과제 선정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800600"/>
            <a:ext cx="217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안내 대상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63824" y="3291840"/>
            <a:ext cx="347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493008" y="1920240"/>
            <a:ext cx="2542032" cy="3383280"/>
          </a:xfrm>
          <a:prstGeom prst="rect">
            <a:avLst/>
          </a:prstGeom>
          <a:solidFill>
            <a:srgbClr val="FFF1F2"/>
          </a:solidFill>
          <a:ln w="25400">
            <a:solidFill>
              <a:srgbClr val="E11D4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93008" y="1920240"/>
            <a:ext cx="2542032" cy="64008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3" name="Text 11"/>
          <p:cNvSpPr/>
          <p:nvPr/>
        </p:nvSpPr>
        <p:spPr>
          <a:xfrm>
            <a:off x="3493008" y="1920240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선거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675888" y="278892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1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6~9차시 · 대표 선출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75888" y="3337560"/>
            <a:ext cx="21762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공약·토론·검증 → 1인 1표 투표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75888" y="4800600"/>
            <a:ext cx="217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1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안내 대상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16752" y="3291840"/>
            <a:ext cx="347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345936" y="1920240"/>
            <a:ext cx="2542032" cy="3383280"/>
          </a:xfrm>
          <a:prstGeom prst="rect">
            <a:avLst/>
          </a:prstGeom>
          <a:solidFill>
            <a:srgbClr val="EEF2FF"/>
          </a:solidFill>
          <a:ln w="25400">
            <a:solidFill>
              <a:srgbClr val="6366F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45936" y="1920240"/>
            <a:ext cx="2542032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6345936" y="1920240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국정 포털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528816" y="278892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10~18차시 · 국정 운영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28816" y="3337560"/>
            <a:ext cx="21762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입법 · 행정 · 사법 활동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869680" y="3291840"/>
            <a:ext cx="347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9198864" y="1920240"/>
            <a:ext cx="2542032" cy="3383280"/>
          </a:xfrm>
          <a:prstGeom prst="rect">
            <a:avLst/>
          </a:prstGeom>
          <a:solidFill>
            <a:srgbClr val="F0FDFA"/>
          </a:solidFill>
          <a:ln w="25400">
            <a:solidFill>
              <a:srgbClr val="14B8A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98864" y="1920240"/>
            <a:ext cx="2542032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9198864" y="1920240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 시사회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381744" y="278892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19~20차시 · 정리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381744" y="3337560"/>
            <a:ext cx="21762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정리글 · 갤러리 워크 · 디브리핑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흐름:  문제를 찾고(①)  →  해결할 대표를 뽑는다(②)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4572000" cy="45720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🌱 첫 번째 여정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시민 광장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19659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1~5차시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457200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651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이 여정의 의미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3035808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시민(학생)이 직접 문제를 발굴하고, 시민단체로 목소리를 모아 우리 반의 ‘최우선 과제’를 정하는 의제 설정의 단계.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4251960"/>
            <a:ext cx="4572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431596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산출물 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최우선 과제 1개 + 시민단체 + 캠페인 자료 + 기사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5303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자세한 단계는 오른쪽 인포그래픽 →</a:t>
            </a:r>
            <a:endParaRPr lang="en-US" sz="1200" dirty="0"/>
          </a:p>
        </p:txBody>
      </p:sp>
      <p:pic>
        <p:nvPicPr>
          <p:cNvPr id="11" name="Image 0" descr="/Volumes/web/class_democra/teacher_guide/img/info_journey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335" y="182880"/>
            <a:ext cx="4328160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4572000" cy="457200"/>
          </a:xfrm>
          <a:prstGeom prst="rect">
            <a:avLst/>
          </a:prstGeom>
          <a:solidFill>
            <a:srgbClr val="E11D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🗳️ 두 번째 여정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F1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선거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19659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6~9차시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457200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11D4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651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1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이 여정의 의미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3035808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최우선 과제를 해결할 대표(대통령)를 공약·검증·토론으로 가려 뽑는 대의 민주주의 체험. 선거 4원칙을 배운다.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4251960"/>
            <a:ext cx="4572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431596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F1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산출물 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당선 대표 + 공약·지지문 + 토론·결과 기사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5303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자세한 단계는 오른쪽 인포그래픽 →</a:t>
            </a:r>
            <a:endParaRPr lang="en-US" sz="1200" dirty="0"/>
          </a:p>
        </p:txBody>
      </p:sp>
      <p:pic>
        <p:nvPicPr>
          <p:cNvPr id="11" name="Image 0" descr="/Volumes/web/class_democra/teacher_guide/img/info_journey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7454" y="182880"/>
            <a:ext cx="4237041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108960" cy="45720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🌱 시민 광장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931920" y="45720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전 체크 &amp; 교사 준비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394960" cy="457200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📖  진행 전 알아야 할 내용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‘최우선 과제’는 잠그면 이후 모든 여정의 중심 주제 — 충분한 논의 후 확정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평가는 ‘좋아요’가 아닌 3축 별점(논리·실현·주제)으로 비판적 보기 연습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기사는 학생 작성 후 ‘교사 승인’을 거쳐 여론판에 게시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92240" y="1463040"/>
            <a:ext cx="5394960" cy="4572000"/>
          </a:xfrm>
          <a:prstGeom prst="rect">
            <a:avLst/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6656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🧰  교사가 준비할 것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12280" y="233172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 만들기 → 학생에게 반 코드 / 입장 QR 공유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⚙️ 학급 설정에서 인원·모둠 수 확인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포스터 이미지 업로드 사전 점검(인터넷·기기)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‘우리 동네 문제’ 예시 1~2개를 오프닝 마중물로 준비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108960" cy="457200"/>
          </a:xfrm>
          <a:prstGeom prst="rect">
            <a:avLst/>
          </a:prstGeom>
          <a:solidFill>
            <a:srgbClr val="E11D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🗳️ 선거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931920" y="45720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F1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전 체크 &amp; 교사 준비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394960" cy="457200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📖  진행 전 알아야 할 내용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아고라·토론은 투표가 아님 — 후보를 ‘검증’하는 단계임을 안내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투표는 1인 1표, 선거 4원칙(보통·평등·직접·비밀) 준수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선거 토론은 자동으로 안 열림 — ‘선거토론 빠른제어’에서 세션 생성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92240" y="1463040"/>
            <a:ext cx="5394960" cy="4572000"/>
          </a:xfrm>
          <a:prstGeom prst="rect">
            <a:avLst/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6656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🧰  교사가 준비할 것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12280" y="233172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여정의 최우선 과제가 잠겨 있는지 확인(공약 기준)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수·캠프 구성 방식 안내(모둠 → 후보)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📖 토론 도구로 진행할 토론 형식(시간·순서) 결정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투표·개표용 TV/전광판 화면 준비(교실 송출)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설명서 — 상단 버튼 &amp; 도구</a:t>
            </a:r>
            <a:endParaRPr lang="en-US" sz="3000" dirty="0"/>
          </a:p>
        </p:txBody>
      </p:sp>
      <p:pic>
        <p:nvPicPr>
          <p:cNvPr id="3" name="Image 0" descr="/Volumes/web/class_democra/teacher_guide/img/feature_man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9884" y="1051560"/>
            <a:ext cx="5325687" cy="5669280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7021331" y="1188720"/>
            <a:ext cx="47131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요약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021331" y="1691640"/>
            <a:ext cx="4713164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여정 탭(시민광장·선거·국정포털)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교사가 누르면 학생 화면도 함께 이동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여론조사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화면에서나 바로 실시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👩‍🏫 교사실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진행·승인·실시간 모니터링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링크·청원·토론도구·제출물·학급설정·QR·갤러리·분석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팁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5212080" cy="1783080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37360"/>
            <a:ext cx="91440" cy="1783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9202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 여론조사가 분기점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43000" y="2450592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①은 최우선 과제 선정, ②는 지지도 확인. 상단 ⚡여론조사로 즉시 실시.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92240" y="1737360"/>
            <a:ext cx="5212080" cy="1783080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8" name="Shape 6"/>
          <p:cNvSpPr/>
          <p:nvPr/>
        </p:nvSpPr>
        <p:spPr>
          <a:xfrm>
            <a:off x="6492240" y="1737360"/>
            <a:ext cx="91440" cy="1783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6812280" y="19202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 단계는 교사실을 따라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812280" y="2450592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👩‍🏫교사실의 단계 가이드대로 진행하면 차시 흐름이 자동 안내됩니다.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3931920"/>
            <a:ext cx="5212080" cy="1783080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931920"/>
            <a:ext cx="91440" cy="1783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114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🔒  최우선 과제는 한 번만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143000" y="4645152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①에서 정한 과제가 선거·국정의 공통 주제 — 신중히 확정·잠금.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92240" y="3931920"/>
            <a:ext cx="5212080" cy="1783080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0" y="3931920"/>
            <a:ext cx="91440" cy="1783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4114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📰  기사·승인 루틴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812280" y="4645152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기사 작성 → 교사 승인 → 여론판 게시로 모든 여정을 기록.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2960" y="6355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민국이의 꿈 · 교사 안내서 — 시민 광장 · 선거 여정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교사 안내 — 시민광장·선거 여정</dc:title>
  <dc:subject>PptxGenJS Presentation</dc:subject>
  <dc:creator>민국이의 꿈</dc:creator>
  <cp:lastModifiedBy>민국이의 꿈</cp:lastModifiedBy>
  <cp:revision>1</cp:revision>
  <dcterms:created xsi:type="dcterms:W3CDTF">2026-05-28T08:19:48Z</dcterms:created>
  <dcterms:modified xsi:type="dcterms:W3CDTF">2026-05-28T08:19:48Z</dcterms:modified>
</cp:coreProperties>
</file>